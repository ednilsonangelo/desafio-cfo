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669280" cy="5669280"/>
          </a:xfrm>
          <a:prstGeom prst="ellipse">
            <a:avLst/>
          </a:prstGeom>
          <a:solidFill>
            <a:srgbClr val="4D8EF0">
              <a:alpha val="12000"/>
            </a:srgbClr>
          </a:solidFill>
          <a:ln w="12700">
            <a:solidFill>
              <a:srgbClr val="4D8EF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4572000" cy="4572000"/>
          </a:xfrm>
          <a:prstGeom prst="ellipse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56032"/>
            <a:ext cx="251460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1752"/>
            <a:ext cx="2377440" cy="704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691640"/>
            <a:ext cx="103601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914400" y="312724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Accounting Simulator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0" y="3822192"/>
            <a:ext cx="3044952" cy="457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31920" y="3950208"/>
            <a:ext cx="4325112" cy="530352"/>
          </a:xfrm>
          <a:prstGeom prst="rect">
            <a:avLst/>
          </a:prstGeom>
          <a:solidFill>
            <a:srgbClr val="4D8EF0">
              <a:alpha val="16000"/>
            </a:srgbClr>
          </a:solidFill>
          <a:ln w="12700">
            <a:solidFill>
              <a:srgbClr val="4D8EF0">
                <a:alpha val="3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0" y="3950208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Empresarial Acadêmico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30B16"/>
          </a:solidFill>
          <a:ln w="12700">
            <a:solidFill>
              <a:srgbClr val="030B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263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idealizado e desenvolvido por Prof. Ednilson Angelo  |  UniFECAF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Arena Contábil?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557784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64008" cy="214884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356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8992" y="1399032"/>
            <a:ext cx="4681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Ensino Prático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1874520"/>
            <a:ext cx="46817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real de gestão empresarial em sala de aula — decisões financeiras com consequências reais no jogo.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280160"/>
            <a:ext cx="557784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280160"/>
            <a:ext cx="64008" cy="214884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4356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59752" y="1399032"/>
            <a:ext cx="4681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Competição entre Equipes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59752" y="1874520"/>
            <a:ext cx="46817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competem como empresas rivais no mesmo mercado, disputando o ranking por score financeiro.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639312"/>
            <a:ext cx="557784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39312"/>
            <a:ext cx="64008" cy="214884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79476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78992" y="3758184"/>
            <a:ext cx="4681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Integradas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" y="4233672"/>
            <a:ext cx="46817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Produção, vendas, finanças, RH e máquinas — todas em um único formulário por rodada.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3639312"/>
            <a:ext cx="557784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3639312"/>
            <a:ext cx="64008" cy="214884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79476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59752" y="3758184"/>
            <a:ext cx="4681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Aplicado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59752" y="4233672"/>
            <a:ext cx="46817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DRE, Balanço Patrimonial, Fluxo de Caixa e 13 indicadores financeiros gerados automaticamente.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Simulada: EcoBottle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gerencia uma empresa concorrente em uma região diferente do mercado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5120640" cy="48006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89888"/>
            <a:ext cx="64008" cy="48006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EcoBottle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0391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de Garrafas Sustentáveis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Produto: Garrafas sustentáveis ecológicas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Até 8 grupos competindo por turma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4290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1 grupo = 1 região = 1 empresa concorrente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93192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Capacidade base: 5.000 unidades/rodada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443484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MP: Plástico, Tampa, Embalagem, Rótulo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493776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Capital Social inicial: R$ 220.000,00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87568" y="1389888"/>
            <a:ext cx="28803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87568" y="1389888"/>
            <a:ext cx="54864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15270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52160" y="195681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demanda, custos elevados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50808" y="1389888"/>
            <a:ext cx="28803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50808" y="1389888"/>
            <a:ext cx="54864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15270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15400" y="195681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estável e competitivo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87568" y="2807208"/>
            <a:ext cx="28803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87568" y="2807208"/>
            <a:ext cx="54864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29443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52160" y="337413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acelerado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750808" y="2807208"/>
            <a:ext cx="28803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750808" y="2807208"/>
            <a:ext cx="54864" cy="11887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15400" y="29443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Oeste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915400" y="337413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reduzido, demanda média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0" y="4251960"/>
            <a:ext cx="28803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0" y="4251960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79792" y="4389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479792" y="48188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base de consumidores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754880" cy="4754880"/>
          </a:xfrm>
          <a:prstGeom prst="ellipse">
            <a:avLst/>
          </a:prstGeom>
          <a:solidFill>
            <a:srgbClr val="4D8EF0">
              <a:alpha val="10000"/>
            </a:srgbClr>
          </a:solidFill>
          <a:ln w="12700">
            <a:solidFill>
              <a:srgbClr val="4D8EF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perfis de acesso com áreas e permissões dedicadas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3657600" cy="4206240"/>
          </a:xfrm>
          <a:prstGeom prst="rect">
            <a:avLst/>
          </a:prstGeom>
          <a:solidFill>
            <a:srgbClr val="0D1F35"/>
          </a:solidFill>
          <a:ln w="12700">
            <a:solidFill>
              <a:srgbClr val="4D8E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81328"/>
            <a:ext cx="3657600" cy="54864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8249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👨‍🏫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76072" y="3054096"/>
            <a:ext cx="33284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o jogo: cria turmas, cadastra alunos, abre e encerra rodadas, define eventos econômicos e processa os resultados com um clique.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481328"/>
            <a:ext cx="3657600" cy="4206240"/>
          </a:xfrm>
          <a:prstGeom prst="rect">
            <a:avLst/>
          </a:prstGeom>
          <a:solidFill>
            <a:srgbClr val="0D1F3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481328"/>
            <a:ext cx="3657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68249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👨‍🎓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29768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(RA)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462272" y="3054096"/>
            <a:ext cx="33284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 as decisões da rodada, acompanha o ranking em tempo real e visualiza DRE, Balanço e indicadores da sua empresa.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83880" y="1481328"/>
            <a:ext cx="3657600" cy="4206240"/>
          </a:xfrm>
          <a:prstGeom prst="rect">
            <a:avLst/>
          </a:prstGeom>
          <a:solidFill>
            <a:srgbClr val="0D1F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1481328"/>
            <a:ext cx="36576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168249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18388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48472" y="3054096"/>
            <a:ext cx="33284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geral — gerencia múltiplos professores, turmas e configurações institucionais de toda a plataforma.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589788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seguro com JWT  •  Professor: e-mail + senha  •  Aluno: RA (Registro Acadêmico) + senha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do Professor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 completa — KPIs, envios em tempo real e ranking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53312"/>
            <a:ext cx="2761488" cy="11704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53312"/>
            <a:ext cx="2761488" cy="4572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4447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93192" y="20391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Ativos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82112" y="1353312"/>
            <a:ext cx="2761488" cy="11704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353312"/>
            <a:ext cx="2761488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4447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19272" y="20391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08192" y="1353312"/>
            <a:ext cx="2761488" cy="11704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08192" y="1353312"/>
            <a:ext cx="2761488" cy="457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4447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45352" y="20391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Ativa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34272" y="1353312"/>
            <a:ext cx="2761488" cy="11704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34272" y="1353312"/>
            <a:ext cx="2761488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71432" y="14447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71432" y="20391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Envios Recebidos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2697480"/>
            <a:ext cx="562356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2697480"/>
            <a:ext cx="64008" cy="16002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285292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60704" y="2816352"/>
            <a:ext cx="4727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de Envios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60704" y="3291840"/>
            <a:ext cx="47274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em tempo real — veja quem enviou, quem está em rascunho e quem está pendente. Atualizado automaticamente a cada 15 segundos.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91072" y="2697480"/>
            <a:ext cx="562356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91072" y="2697480"/>
            <a:ext cx="64008" cy="16002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285292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095744" y="2816352"/>
            <a:ext cx="4727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Automático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95744" y="3291840"/>
            <a:ext cx="47274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ponderado por 6 indicadores financeiros. Ranking atualizado a cada rodada processada com posições, medalhas e evolução.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" y="4498848"/>
            <a:ext cx="562356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4498848"/>
            <a:ext cx="64008" cy="16002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46542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🥧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60704" y="4617720"/>
            <a:ext cx="4727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60704" y="5093208"/>
            <a:ext cx="47274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fatia de mercado por empresa — visualização imediata do posicionamento de cada grupo.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91072" y="4498848"/>
            <a:ext cx="562356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91072" y="4498848"/>
            <a:ext cx="64008" cy="16002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46542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095744" y="4617720"/>
            <a:ext cx="4727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Rápido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095744" y="5093208"/>
            <a:ext cx="47274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Processar Rodada, Exportar Relatório, Gerenciar Alunos — tudo acessível a partir do dashboard principal.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Turmas, Grupos e Alunos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completa de participantes — do cadastro ao vínculo com o grupo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3703320" cy="2057400"/>
          </a:xfrm>
          <a:prstGeom prst="rect">
            <a:avLst/>
          </a:prstGeom>
          <a:solidFill>
            <a:srgbClr val="0D1F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98448"/>
            <a:ext cx="370332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796" y="1463040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96796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7472" y="22128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Turmas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259689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por disciplina ou semestre. Cada turma tem grupos, alunos e rodadas independentes.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87952" y="1298448"/>
            <a:ext cx="3703320" cy="2057400"/>
          </a:xfrm>
          <a:prstGeom prst="rect">
            <a:avLst/>
          </a:prstGeom>
          <a:solidFill>
            <a:srgbClr val="0D1F3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87952" y="1298448"/>
            <a:ext cx="37033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28716" y="1463040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28716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79392" y="22128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Grupos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79392" y="259689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= uma empresa EcoBottle em uma região. Nome, empresa, cor e multiplicadores únicos.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19872" y="1298448"/>
            <a:ext cx="3703320" cy="2057400"/>
          </a:xfrm>
          <a:prstGeom prst="rect">
            <a:avLst/>
          </a:prstGeom>
          <a:solidFill>
            <a:srgbClr val="0D1F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19872" y="1298448"/>
            <a:ext cx="370332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60636" y="1463040"/>
            <a:ext cx="621792" cy="6217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60636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11312" y="22128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Alunos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11312" y="259689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individual ou importação em massa via CSV. Cada aluno vinculado ao seu grupo.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566160"/>
            <a:ext cx="3703320" cy="2057400"/>
          </a:xfrm>
          <a:prstGeom prst="rect">
            <a:avLst/>
          </a:prstGeom>
          <a:solidFill>
            <a:srgbClr val="0D1F35"/>
          </a:solidFill>
          <a:ln w="12700">
            <a:solidFill>
              <a:srgbClr val="C9A5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566160"/>
            <a:ext cx="3703320" cy="457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96796" y="3730752"/>
            <a:ext cx="621792" cy="621792"/>
          </a:xfrm>
          <a:prstGeom prst="ellipse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96796" y="3730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47472" y="4480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CSV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" y="486460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Carregue a lista completa da turma em segundos. Formato: RA, nome, senha, grupo_id.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87952" y="3566160"/>
            <a:ext cx="3703320" cy="2057400"/>
          </a:xfrm>
          <a:prstGeom prst="rect">
            <a:avLst/>
          </a:prstGeom>
          <a:solidFill>
            <a:srgbClr val="0D1F3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87952" y="3566160"/>
            <a:ext cx="370332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28716" y="3730752"/>
            <a:ext cx="621792" cy="6217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28716" y="3730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4279392" y="4480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Grupo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279392" y="486460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Mova alunos entre grupos quando necessário. Histórico de envios mantido.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19872" y="3566160"/>
            <a:ext cx="3703320" cy="2057400"/>
          </a:xfrm>
          <a:prstGeom prst="rect">
            <a:avLst/>
          </a:prstGeom>
          <a:solidFill>
            <a:srgbClr val="0D1F3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19872" y="3566160"/>
            <a:ext cx="370332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60636" y="3730752"/>
            <a:ext cx="621792" cy="6217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60636" y="3730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8211312" y="4480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de Senha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11312" y="486460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redefine senhas diretamente pelo painel — sem dependência de e-mail externo.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Rodadas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Professor como Game Master — 6 etapas por rodada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1755648" cy="402336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89888"/>
            <a:ext cx="175564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1591056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591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0896" y="23957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" y="2944368"/>
            <a:ext cx="16093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rodada com nome e evento econômico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29968" y="3374136"/>
            <a:ext cx="192024" cy="54864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40280" y="1389888"/>
            <a:ext cx="1755648" cy="4023360"/>
          </a:xfrm>
          <a:prstGeom prst="rect">
            <a:avLst/>
          </a:prstGeom>
          <a:solidFill>
            <a:srgbClr val="F8FAFC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40280" y="1389888"/>
            <a:ext cx="1755648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98064" y="1591056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98064" y="1591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95144" y="23957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13432" y="2944368"/>
            <a:ext cx="16093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Travas de preços, encargos, parâmetros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14216" y="3374136"/>
            <a:ext cx="192024" cy="54864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4528" y="1389888"/>
            <a:ext cx="1755648" cy="402336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24528" y="1389888"/>
            <a:ext cx="175564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82312" y="1591056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1591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279392" y="23957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2944368"/>
            <a:ext cx="16093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formulário para os alunos preencherem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98464" y="3374136"/>
            <a:ext cx="192024" cy="54864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08776" y="1389888"/>
            <a:ext cx="1755648" cy="4023360"/>
          </a:xfrm>
          <a:prstGeom prst="rect">
            <a:avLst/>
          </a:prstGeom>
          <a:solidFill>
            <a:srgbClr val="F8FAFC"/>
          </a:solidFill>
          <a:ln w="25400">
            <a:solidFill>
              <a:srgbClr val="C9A5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08776" y="1389888"/>
            <a:ext cx="1755648" cy="54864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1591056"/>
            <a:ext cx="640080" cy="640080"/>
          </a:xfrm>
          <a:prstGeom prst="ellipse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1591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63640" y="23957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81928" y="2944368"/>
            <a:ext cx="16093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de envios em tempo real — polling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82712" y="3374136"/>
            <a:ext cx="192024" cy="54864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93024" y="1389888"/>
            <a:ext cx="1755648" cy="4023360"/>
          </a:xfrm>
          <a:prstGeom prst="rect">
            <a:avLst/>
          </a:prstGeom>
          <a:solidFill>
            <a:srgbClr val="F8FAFC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93024" y="1389888"/>
            <a:ext cx="175564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50808" y="1591056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50808" y="1591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247888" y="23957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66176" y="2944368"/>
            <a:ext cx="16093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novos envios de todos os grupos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966960" y="3374136"/>
            <a:ext cx="192024" cy="54864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77272" y="1389888"/>
            <a:ext cx="1755648" cy="402336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177272" y="1389888"/>
            <a:ext cx="1755648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735056" y="1591056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35056" y="1591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232136" y="23957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250424" y="2944368"/>
            <a:ext cx="16093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DRE, BP, FC, ranking e medalhas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Econômicos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Simulando o mercado real — o professor escolhe; os alunos descobrem ao processar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2715768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98448"/>
            <a:ext cx="2715768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389888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7472" y="1901952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econômico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56032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 demanda, +2% custos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1298448"/>
            <a:ext cx="2715768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298448"/>
            <a:ext cx="2715768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389888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55848" y="1901952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econômica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256032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-15% demanda, +5% custos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298448"/>
            <a:ext cx="2715768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298448"/>
            <a:ext cx="2715768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389888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1901952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Inflação alta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256032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-6% demanda, +10% custos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62872" y="1298448"/>
            <a:ext cx="2715768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62872" y="1298448"/>
            <a:ext cx="2715768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62872" y="1389888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54312" y="1901952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 fiscal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54312" y="256032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+6% demanda, -4% custos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3364992"/>
            <a:ext cx="2715768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364992"/>
            <a:ext cx="271576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3456432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47472" y="3968496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Escassez de matéria-prima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" y="4626864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custos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64408" y="3364992"/>
            <a:ext cx="2715768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64408" y="3364992"/>
            <a:ext cx="2715768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4408" y="3456432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💵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355848" y="3968496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do dólar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55848" y="4626864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-3% demanda, +8% custos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3364992"/>
            <a:ext cx="2715768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63640" y="3364992"/>
            <a:ext cx="2715768" cy="457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3456432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355080" y="3968496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temporada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5080" y="4626864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 demanda, +5% custos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262872" y="3364992"/>
            <a:ext cx="2715768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262872" y="3364992"/>
            <a:ext cx="2715768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62872" y="3456432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9354312" y="3968496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sustentabilidade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354312" y="4626864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 demanda, +2% custos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527608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alunos não sabem qual evento será aplicado — surpresa revelada apenas após o processamento da rodada.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 Avançadas da Rodada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personaliza cada rodada com parâmetros pedagógicos específicos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98448"/>
            <a:ext cx="64008" cy="2103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070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Travas de Preços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070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Bloqueie os preços unitários de Plástico, Tampa, Embalagem e Rótulo — todos os grupos pagam o mesmo custo de MP.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8795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87952" y="1298448"/>
            <a:ext cx="64008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9262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Inserção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9262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custo por inserção de marketing (ex.: R$ 600/inserção). Limita estratégias de marketing agressivas.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1987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19872" y="1298448"/>
            <a:ext cx="64008" cy="2103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👷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2454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Mín. por Máquina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2454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número mínimo de funcionários para cada máquina adicional — simula restrição real de RH.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566160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566160"/>
            <a:ext cx="64008" cy="21031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7216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60704" y="3685032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Encargos sobre Folha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0704" y="4160520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% de encargos trabalhistas (ex.: 28%). Calculado sobre a folha salarial total de cada empresa.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87952" y="3566160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87952" y="3566160"/>
            <a:ext cx="64008" cy="2103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87952" y="37216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💹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92624" y="3685032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Preço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92624" y="4160520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preço mínimo e máximo de venda por produto — evita estratégias extremas fora do mercado.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19872" y="3566160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19872" y="3566160"/>
            <a:ext cx="64008" cy="2103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9872" y="37216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24544" y="3685032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Econômico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924544" y="4160520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evento que afetará demanda e custos nesta rodada — mantido em sigilo até o processamento.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5029200" cy="5029200"/>
          </a:xfrm>
          <a:prstGeom prst="ellipse">
            <a:avLst/>
          </a:prstGeom>
          <a:solidFill>
            <a:srgbClr val="4D8EF0">
              <a:alpha val="10000"/>
            </a:srgbClr>
          </a:solidFill>
          <a:ln w="12700">
            <a:solidFill>
              <a:srgbClr val="4D8EF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Decisão do Aluno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seções integradas — todas as decisões em uma única tela responsiva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3520440" cy="1600200"/>
          </a:xfrm>
          <a:prstGeom prst="rect">
            <a:avLst/>
          </a:prstGeom>
          <a:solidFill>
            <a:srgbClr val="0D1F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" y="1997964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9979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9304" y="1673352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9304" y="2148840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Qtd. a produzir, funcionários, contratar/demitir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24528" y="1508760"/>
            <a:ext cx="3520440" cy="1600200"/>
          </a:xfrm>
          <a:prstGeom prst="rect">
            <a:avLst/>
          </a:prstGeom>
          <a:solidFill>
            <a:srgbClr val="0D1F3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52544" y="1997964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52544" y="19979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02352" y="1673352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02352" y="2148840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de MP: plástico, tampa, embalagem, rótulo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508760"/>
            <a:ext cx="3520440" cy="1600200"/>
          </a:xfrm>
          <a:prstGeom prst="rect">
            <a:avLst/>
          </a:prstGeom>
          <a:solidFill>
            <a:srgbClr val="0D1F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74736" y="1997964"/>
            <a:ext cx="621792" cy="6217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4736" y="19979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24544" y="1673352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24544" y="2148840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por região, preço e marketing regional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364992"/>
            <a:ext cx="3520440" cy="1600200"/>
          </a:xfrm>
          <a:prstGeom prst="rect">
            <a:avLst/>
          </a:prstGeom>
          <a:solidFill>
            <a:srgbClr val="0D1F35"/>
          </a:solidFill>
          <a:ln w="12700">
            <a:solidFill>
              <a:srgbClr val="C9A5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9496" y="3854196"/>
            <a:ext cx="621792" cy="621792"/>
          </a:xfrm>
          <a:prstGeom prst="ellipse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38541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9304" y="3529584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9304" y="4005072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em marketing e desconto comercial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24528" y="3364992"/>
            <a:ext cx="3520440" cy="1600200"/>
          </a:xfrm>
          <a:prstGeom prst="rect">
            <a:avLst/>
          </a:prstGeom>
          <a:solidFill>
            <a:srgbClr val="0D1F3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52544" y="3854196"/>
            <a:ext cx="621792" cy="6217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52544" y="38541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02352" y="3529584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02352" y="4005072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de máquinas para expandir capacidade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0" y="3364992"/>
            <a:ext cx="3520440" cy="1600200"/>
          </a:xfrm>
          <a:prstGeom prst="rect">
            <a:avLst/>
          </a:prstGeom>
          <a:solidFill>
            <a:srgbClr val="0D1F3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74736" y="3854196"/>
            <a:ext cx="621792" cy="6217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74736" y="38541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924544" y="3529584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924544" y="4005072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Empréstimos, prazo de pagamento e recebimento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5138928"/>
            <a:ext cx="12188952" cy="1143000"/>
          </a:xfrm>
          <a:prstGeom prst="rect">
            <a:avLst/>
          </a:prstGeom>
          <a:solidFill>
            <a:srgbClr val="030B16"/>
          </a:solidFill>
          <a:ln w="12700">
            <a:solidFill>
              <a:srgbClr val="030B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19379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Prévia de DRE calculada em tempo real  •  Alertas de inconsistência automáticos  •  Envio bloqueado após confirmação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Produção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produtiva, gestão de pessoal e expansão via máquinas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25880"/>
            <a:ext cx="3703320" cy="48463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25880"/>
            <a:ext cx="64008" cy="484632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81328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/ rodada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base da fábrica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410712"/>
            <a:ext cx="164592" cy="164592"/>
          </a:xfrm>
          <a:prstGeom prst="ellipse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3649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adicional via compra de máquinas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822192"/>
            <a:ext cx="164592" cy="164592"/>
          </a:xfrm>
          <a:prstGeom prst="ellipse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764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Funcionários atuais herdados da rodada anterior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4233672"/>
            <a:ext cx="164592" cy="164592"/>
          </a:xfrm>
          <a:prstGeom prst="ellipse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1879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ou demitir nesta rodada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645152"/>
            <a:ext cx="164592" cy="164592"/>
          </a:xfrm>
          <a:prstGeom prst="ellipse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5994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Qtd. a produzir ≤ capacidade disponível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5056632"/>
            <a:ext cx="164592" cy="164592"/>
          </a:xfrm>
          <a:prstGeom prst="ellipse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0109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variável: R$ 10,60 por unidade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5468112"/>
            <a:ext cx="164592" cy="164592"/>
          </a:xfrm>
          <a:prstGeom prst="ellipse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54223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salarial e encargos calculados automaticamente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87952" y="1353312"/>
            <a:ext cx="7818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Disponíveis para Compra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87952" y="1847088"/>
            <a:ext cx="242316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87952" y="1847088"/>
            <a:ext cx="24231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79392" y="2011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79392" y="250545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+833 unid.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279392" y="30540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R$ 80.000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79392" y="341985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rodada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93992" y="1847088"/>
            <a:ext cx="242316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93992" y="1847088"/>
            <a:ext cx="24231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85432" y="2011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85432" y="250545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+1.666 unid.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85432" y="30540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R$ 150.000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85432" y="341985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rodada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400032" y="1847088"/>
            <a:ext cx="242316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400032" y="1847088"/>
            <a:ext cx="24231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91472" y="2011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491472" y="250545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+2.500 unid.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491472" y="30540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R$ 210.000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491472" y="341985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rodada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87952" y="4370832"/>
            <a:ext cx="7818120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3400" y="4480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e Carryover entre Rodadas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343400" y="4882896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acabado não vendido é estocado para a próxima rodada com custo de armazenagem de 5% do valor. Matérias-primas não consumidas também transitam entre rodadas (carryover contábil).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por Região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preço e marketing diferenciada por mercado regional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1993392" cy="40233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298448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1298448"/>
            <a:ext cx="2194560" cy="40233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86584" y="1298448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298448"/>
            <a:ext cx="2103120" cy="40233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1298448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(R$)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1298448"/>
            <a:ext cx="2075688" cy="40233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67144" y="129844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Inserções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79408" y="1298448"/>
            <a:ext cx="1883664" cy="40233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34272" y="129844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Est.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54512" y="1298448"/>
            <a:ext cx="1124712" cy="40233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09376" y="1298448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1719072"/>
            <a:ext cx="11823192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1719072"/>
            <a:ext cx="457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171907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04872" y="1719072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90872" y="171907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R$ 45,00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85432" y="171907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52560" y="17190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R$ 54.000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991088" y="1810512"/>
            <a:ext cx="1005840" cy="301752"/>
          </a:xfrm>
          <a:prstGeom prst="roundRect">
            <a:avLst>
              <a:gd name="adj" fmla="val 42424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91088" y="181051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2267712"/>
            <a:ext cx="118231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267712"/>
            <a:ext cx="457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226771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04872" y="2267712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90872" y="226771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R$ 42,00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85432" y="226771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52560" y="2267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R$ 33.600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991088" y="2359152"/>
            <a:ext cx="1005840" cy="301752"/>
          </a:xfrm>
          <a:prstGeom prst="roundRect">
            <a:avLst>
              <a:gd name="adj" fmla="val 42424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91088" y="235915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2816352"/>
            <a:ext cx="11823192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" y="2816352"/>
            <a:ext cx="4572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" y="281635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404872" y="2816352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90872" y="281635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R$ 48,00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85432" y="281635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52560" y="28163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R$ 24.000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991088" y="2907792"/>
            <a:ext cx="1005840" cy="301752"/>
          </a:xfrm>
          <a:prstGeom prst="roundRect">
            <a:avLst>
              <a:gd name="adj" fmla="val 42424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91088" y="290779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3364992"/>
            <a:ext cx="118231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032" y="3364992"/>
            <a:ext cx="45720" cy="5029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" y="336499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Oeste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404872" y="3364992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90872" y="33649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85432" y="336499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052560" y="33649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0991088" y="3456432"/>
            <a:ext cx="1005840" cy="301752"/>
          </a:xfrm>
          <a:prstGeom prst="roundRect">
            <a:avLst>
              <a:gd name="adj" fmla="val 424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91088" y="345643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Inativa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56032" y="3913632"/>
            <a:ext cx="11823192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6032" y="3913632"/>
            <a:ext cx="457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" y="391363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404872" y="3913632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690872" y="391363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85432" y="391363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052560" y="39136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0991088" y="4005072"/>
            <a:ext cx="1005840" cy="301752"/>
          </a:xfrm>
          <a:prstGeom prst="roundRect">
            <a:avLst>
              <a:gd name="adj" fmla="val 424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991088" y="400507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Inativa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20040" y="4937760"/>
            <a:ext cx="182880" cy="182880"/>
          </a:xfrm>
          <a:prstGeom prst="ellipse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" y="48920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praticado vs. média de mercado determina fator de demanda adicional para cada região.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20040" y="5321808"/>
            <a:ext cx="182880" cy="182880"/>
          </a:xfrm>
          <a:prstGeom prst="ellipse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4360" y="527608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aumenta a demanda regional — cada inserção tem custo configurável pelo professor.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20040" y="5705856"/>
            <a:ext cx="182880" cy="182880"/>
          </a:xfrm>
          <a:prstGeom prst="ellipse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4360" y="5660136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comercial reduz o preço efetivo e atrai mais compradores — estratégia de volume.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— Prévia em Tempo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do Resultado calculada automaticamente enquanto o aluno preenche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7882128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25880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Receita Bruta de Vendas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61888" y="1325880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R$ 111.600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723644"/>
            <a:ext cx="788212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723644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Impostos sobre Vendas (18%)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61888" y="1723644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(R$ 20.088)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121408"/>
            <a:ext cx="7882128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121408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(=) Receita Líquida de Vendas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61888" y="2121408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R$ 91.512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519172"/>
            <a:ext cx="788212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519172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CPV — Custo dos Produtos Vendidos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61888" y="2519172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(R$ 26.500)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916936"/>
            <a:ext cx="7882128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2916936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(=) Lucro Bruto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61888" y="2916936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R$ 65.012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314700"/>
            <a:ext cx="788212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314700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Despesas Operacionais totais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61888" y="3314700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(R$ 48.200)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712464"/>
            <a:ext cx="788212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" y="3712464"/>
            <a:ext cx="51663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Mktg + Salários + Encargos + Fixas...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4110228"/>
            <a:ext cx="7882128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4110228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(=) Resultado Operacional (EBITDA)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61888" y="4110228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R$ 16.812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507992"/>
            <a:ext cx="788212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4507992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Despesas Financeiras / (+) Rec. Fin.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61888" y="4507992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(R$ 1.200)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4905756"/>
            <a:ext cx="7882128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" y="4905756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(=) Resultado Antes do IR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61888" y="4905756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R$ 15.612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5303520"/>
            <a:ext cx="788212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5303520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IR + CSLL (34%)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61888" y="5303520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(R$ 5.308)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" y="5701284"/>
            <a:ext cx="7882128" cy="397764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5701284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(=) LUCRO LÍQUIDO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61888" y="5701284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R$ 10.304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577072" y="1325880"/>
            <a:ext cx="3429000" cy="477316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577072" y="1325880"/>
            <a:ext cx="64008" cy="4773168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68512" y="14904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ℹ️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198864" y="1490472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Prévia estimada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741664" y="1874520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Calculada com preço médio de R$ 42,00. Valores reais dependem das decisões de todos os grupos.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668512" y="26334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198864" y="2633472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741664" y="3017520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Atualizada a cada campo preenchido — impacto imediato de cada decisão visível ao aluno.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668512" y="37764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198864" y="3776472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Inconsistências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741664" y="4160520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automáticos: produção acima da capacidade, caixa negativo, decisões inválidas.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668512" y="49194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🖨️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198864" y="4919472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Impressão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741664" y="5303520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pode imprimir ou salvar a prévia em PDF antes de confirmar o envio.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Ranking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ponderado por 6 indicadores financeiros — calculado automaticamente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do Score (100 pts)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" y="1783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847088"/>
            <a:ext cx="2542032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847088"/>
            <a:ext cx="635508" cy="228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75504" y="17830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25pts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2240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Corrente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2304288"/>
            <a:ext cx="2542032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2304288"/>
            <a:ext cx="508406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75504" y="22402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20pts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Seca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2761488"/>
            <a:ext cx="2542032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2761488"/>
            <a:ext cx="381305" cy="228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5504" y="26974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15pts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Imediata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3218688"/>
            <a:ext cx="2542032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3218688"/>
            <a:ext cx="381305" cy="22860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75504" y="31546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15pts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Líquida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3675888"/>
            <a:ext cx="2542032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3675888"/>
            <a:ext cx="381305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5504" y="36118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15pts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" y="4069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Financeiro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0" y="4133088"/>
            <a:ext cx="2542032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0" y="4133088"/>
            <a:ext cx="254203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75504" y="40690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" y="45720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Automático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56032" y="5010912"/>
            <a:ext cx="914400" cy="1078992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5056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56032" y="5532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 pts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280160" y="5010912"/>
            <a:ext cx="914400" cy="1078992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0160" y="5056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80160" y="5532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 pts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304288" y="5010912"/>
            <a:ext cx="914400" cy="1078992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04288" y="5056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2304288" y="5532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45 pts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28416" y="5010912"/>
            <a:ext cx="914400" cy="1078992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28416" y="5056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328416" y="5532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 pts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52544" y="5010912"/>
            <a:ext cx="914400" cy="1078992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52544" y="5056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352544" y="5532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pts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69280" y="132588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da Rodada — Exemplo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669280" y="1783080"/>
            <a:ext cx="658368" cy="384048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05856" y="1783080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27648" y="1783080"/>
            <a:ext cx="2304288" cy="384048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64224" y="178308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631936" y="1783080"/>
            <a:ext cx="1207008" cy="384048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68512" y="178308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838944" y="1783080"/>
            <a:ext cx="1627632" cy="384048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75520" y="1783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Marg. Líq.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1466576" y="1783080"/>
            <a:ext cx="1261872" cy="384048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503152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669280" y="2194560"/>
            <a:ext cx="7059168" cy="484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05856" y="2194560"/>
            <a:ext cx="585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🥇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364224" y="2194560"/>
            <a:ext cx="22311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EcoBottle Norte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668512" y="2194560"/>
            <a:ext cx="1133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78.4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875520" y="2194560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12.3%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1503152" y="2194560"/>
            <a:ext cx="1188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669280" y="2724912"/>
            <a:ext cx="7059168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05856" y="2724912"/>
            <a:ext cx="585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🥈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364224" y="2724912"/>
            <a:ext cx="22311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EcoBottle Sul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668512" y="2724912"/>
            <a:ext cx="1133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65.2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875520" y="2724912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1503152" y="2724912"/>
            <a:ext cx="1188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669280" y="3255264"/>
            <a:ext cx="7059168" cy="484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05856" y="3255264"/>
            <a:ext cx="585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3º 🥉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364224" y="3255264"/>
            <a:ext cx="22311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EcoBottle Leste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8668512" y="3255264"/>
            <a:ext cx="1133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58.9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9875520" y="3255264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11503152" y="3255264"/>
            <a:ext cx="1188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669280" y="3785616"/>
            <a:ext cx="7059168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05856" y="3785616"/>
            <a:ext cx="585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4º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6364224" y="3785616"/>
            <a:ext cx="22311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EcoBottle Oeste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668512" y="3785616"/>
            <a:ext cx="1133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47.3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9875520" y="3785616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11503152" y="3785616"/>
            <a:ext cx="1188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5669280" y="4315968"/>
            <a:ext cx="7059168" cy="484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705856" y="4315968"/>
            <a:ext cx="585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5º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6364224" y="4315968"/>
            <a:ext cx="22311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EcoBottle Centro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8668512" y="4315968"/>
            <a:ext cx="1133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31.1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9875520" y="4315968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11503152" y="4315968"/>
            <a:ext cx="1188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Indicadores Financeiros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financeira completa gerada automaticamente a cada rodada processada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25880"/>
            <a:ext cx="2788920" cy="5074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25880"/>
            <a:ext cx="27889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7218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" y="1965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pagamento de curto prazo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2542032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542032"/>
            <a:ext cx="4572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25420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Corrente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3209544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3209544"/>
            <a:ext cx="4572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20954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Seca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3877056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3877056"/>
            <a:ext cx="4572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387705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Imediata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27832" y="1325880"/>
            <a:ext cx="2788920" cy="5074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27832" y="132588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147218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19272" y="1965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na geração de lucro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55848" y="2542032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55848" y="2542032"/>
            <a:ext cx="457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5576" y="25420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Bruta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55848" y="3209544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55848" y="3209544"/>
            <a:ext cx="457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65576" y="320954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Operacional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55848" y="3877056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55848" y="3877056"/>
            <a:ext cx="457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5576" y="387705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Líquida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55848" y="4544568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55848" y="4544568"/>
            <a:ext cx="457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65576" y="45445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55848" y="5212080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55848" y="5212080"/>
            <a:ext cx="457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65576" y="52120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99632" y="1325880"/>
            <a:ext cx="2788920" cy="5074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99632" y="1325880"/>
            <a:ext cx="27889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147218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91072" y="1965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operacional e ciclo de caixa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27648" y="2542032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27648" y="2542032"/>
            <a:ext cx="4572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37376" y="25420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Prazo Médio Estoque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27648" y="3209544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27648" y="3209544"/>
            <a:ext cx="4572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37376" y="320954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PMR — Prazo Médio Recebimento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27648" y="3877056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27648" y="3877056"/>
            <a:ext cx="4572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37376" y="387705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 — Prazo Médio Pagamento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327648" y="4544568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27648" y="4544568"/>
            <a:ext cx="4572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37376" y="45445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Financeiro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171432" y="1325880"/>
            <a:ext cx="2788920" cy="5074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9171432" y="1325880"/>
            <a:ext cx="2788920" cy="54864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62872" y="147218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262872" y="1965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insumos e capital de giro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299448" y="2542032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99448" y="2542032"/>
            <a:ext cx="45720" cy="54864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409176" y="25420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totais de materiais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automaticamente — BP final de cada rodada vira abertura da próxima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25880"/>
            <a:ext cx="5376672" cy="5166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25880"/>
            <a:ext cx="5376672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5157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92808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Circulante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85416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e Equivalentes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87952" y="2185416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R$ 28.500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624328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a Receber (clientes)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87952" y="2624328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R$ 12.000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de Matérias-Primas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87952" y="306324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R$ 4.800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502152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de Produto Acabado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87952" y="3502152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R$ 6.200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3941064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Não Circulante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233672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e Equipamentos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87952" y="4233672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R$ 80.000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672584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Depreciação Acumulada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87952" y="4672584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(R$ 5.000)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" y="5961888"/>
            <a:ext cx="5376672" cy="530352"/>
          </a:xfrm>
          <a:prstGeom prst="rect">
            <a:avLst/>
          </a:prstGeom>
          <a:solidFill>
            <a:srgbClr val="3B82F6">
              <a:alpha val="16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5961888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 ATIVO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87952" y="5961888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R$ 126.500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61888" y="1325880"/>
            <a:ext cx="5971032" cy="5166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61888" y="1325880"/>
            <a:ext cx="5971032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1616" y="1325880"/>
            <a:ext cx="5751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 + PATRIMÔNIO LÍQUIDO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71616" y="1892808"/>
            <a:ext cx="5751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 Circulante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63056" y="2185416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(MP a pagar)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488168" y="2185416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R$ 5.200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63056" y="2624328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Empréstimos CP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488168" y="2624328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71616" y="3063240"/>
            <a:ext cx="5751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 Não Circulante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63056" y="3355848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Empréstimos LP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488168" y="3355848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R$ 15.000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071616" y="3794760"/>
            <a:ext cx="5751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63056" y="4087368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Social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488168" y="4087368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R$ 96.000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63056" y="4526280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Lucros Acumulados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488168" y="452628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R$ 10.300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961888" y="5961888"/>
            <a:ext cx="5971032" cy="530352"/>
          </a:xfrm>
          <a:prstGeom prst="rect">
            <a:avLst/>
          </a:prstGeom>
          <a:solidFill>
            <a:srgbClr val="10B981">
              <a:alpha val="16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5961888"/>
            <a:ext cx="4489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PAS. + PL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488168" y="5961888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R$ 126.500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11480" y="6510528"/>
            <a:ext cx="11365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Total = Passivo Total + Patrimônio Líquido  |  Equação fundamental verificada automaticamente após cada processamento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669280" cy="5669280"/>
          </a:xfrm>
          <a:prstGeom prst="ellipse">
            <a:avLst/>
          </a:prstGeom>
          <a:solidFill>
            <a:srgbClr val="C9A520">
              <a:alpha val="8000"/>
            </a:srgbClr>
          </a:solidFill>
          <a:ln w="12700">
            <a:solidFill>
              <a:srgbClr val="C9A520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 e Medalhas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Engajamento, motivação e reconhecimento por performance financeira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3611880" cy="1938528"/>
          </a:xfrm>
          <a:prstGeom prst="rect">
            <a:avLst/>
          </a:prstGeom>
          <a:solidFill>
            <a:srgbClr val="0D1F35"/>
          </a:solidFill>
          <a:ln w="12700">
            <a:solidFill>
              <a:srgbClr val="C9A5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08760"/>
            <a:ext cx="3611880" cy="457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27632"/>
            <a:ext cx="804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🥇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16152" y="1655064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CFO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16152" y="2130552"/>
            <a:ext cx="271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score geral da rodada — liderança financeira completa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5112" y="1508760"/>
            <a:ext cx="3611880" cy="1938528"/>
          </a:xfrm>
          <a:prstGeom prst="rect">
            <a:avLst/>
          </a:prstGeom>
          <a:solidFill>
            <a:srgbClr val="0D1F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5112" y="1508760"/>
            <a:ext cx="36118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627632"/>
            <a:ext cx="804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💧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29784" y="1655064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Liquidez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9784" y="2130552"/>
            <a:ext cx="271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Liquidez Corrente — empresa mais solvente e segura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38744" y="1508760"/>
            <a:ext cx="3611880" cy="1938528"/>
          </a:xfrm>
          <a:prstGeom prst="rect">
            <a:avLst/>
          </a:prstGeom>
          <a:solidFill>
            <a:srgbClr val="0D1F3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38744" y="1508760"/>
            <a:ext cx="36118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8744" y="1627632"/>
            <a:ext cx="804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043416" y="1655064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Crescimento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43416" y="2130552"/>
            <a:ext cx="271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crescimento de receita vs. rodada anterior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685032"/>
            <a:ext cx="3611880" cy="1938528"/>
          </a:xfrm>
          <a:prstGeom prst="rect">
            <a:avLst/>
          </a:prstGeom>
          <a:solidFill>
            <a:srgbClr val="0D1F3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685032"/>
            <a:ext cx="36118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03904"/>
            <a:ext cx="804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216152" y="3831336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Lucrativo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16152" y="4306824"/>
            <a:ext cx="271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margem líquida — eficiência máxima na geração de lucro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25112" y="3685032"/>
            <a:ext cx="3611880" cy="1938528"/>
          </a:xfrm>
          <a:prstGeom prst="rect">
            <a:avLst/>
          </a:prstGeom>
          <a:solidFill>
            <a:srgbClr val="0D1F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25112" y="3685032"/>
            <a:ext cx="361188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803904"/>
            <a:ext cx="804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129784" y="3831336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Campeão de Vendas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9784" y="4306824"/>
            <a:ext cx="271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receita total — domínio de mercado comprovado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38744" y="3685032"/>
            <a:ext cx="3611880" cy="1938528"/>
          </a:xfrm>
          <a:prstGeom prst="rect">
            <a:avLst/>
          </a:prstGeom>
          <a:solidFill>
            <a:srgbClr val="0D1F3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38744" y="3685032"/>
            <a:ext cx="36118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38744" y="3803904"/>
            <a:ext cx="804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043416" y="3831336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AAA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43416" y="4306824"/>
            <a:ext cx="271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75 pontos — excelência financeira em todas as dimensões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580644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Medalhas acumuladas ao longo de todas as rodadas  •  Ranking geral sempre visível para todos os alunos da turma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 Exportação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completos para análise, avaliação e portfólio acadêmico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98448"/>
            <a:ext cx="64008" cy="210312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070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Consolidado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070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Posição, score e evolução de cada grupo por rodada e no ranking geral acumulado do semestre.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8795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87952" y="1298448"/>
            <a:ext cx="64008" cy="210312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9262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+ BP + Fluxo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9262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Demonstrações financeiras completas de todos os grupos — geradas automaticamente após cada processamento.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1987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19872" y="1298448"/>
            <a:ext cx="64008" cy="210312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2454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Multi-Rodada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2454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comparativos de Lucro, Receita e Liquidez ao longo de todas as rodadas do semestre.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67588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675888"/>
            <a:ext cx="64008" cy="210312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83133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60704" y="379476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em PDF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0704" y="427024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formatado por grupo: DRE, BP, indicadores e comentário personalizado do professor.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87952" y="367588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87952" y="3675888"/>
            <a:ext cx="64008" cy="210312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87952" y="383133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📗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92624" y="379476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em Excel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92624" y="427024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com dados brutos de todas as rodadas — ideal para análise estatística e pesquisa.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19872" y="367588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19872" y="3675888"/>
            <a:ext cx="64008" cy="210312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9872" y="383133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🥧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24544" y="379476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924544" y="427024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fatia de mercado por empresa — visualiza o domínio competitivo de cada grupo.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Arena Contábil?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 que fazem a diferença na experiência de ensino e aprendizado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98448"/>
            <a:ext cx="64008" cy="2103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070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070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de qualquer dispositivo com internet. Sem instalação, sem configuração.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8795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87952" y="1298448"/>
            <a:ext cx="64008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9262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9262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responsiva otimizada para celular — alunos acessam de qualquer lugar, a qualquer hora.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1987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19872" y="1298448"/>
            <a:ext cx="64008" cy="2103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2454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2454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processados instantaneamente. Rankings e gráficos atualizados na hora.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67588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675888"/>
            <a:ext cx="64008" cy="2103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83133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60704" y="379476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0704" y="427024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por sessão, isolamento por turma — aluno acessa exclusivamente a sua própria empresa.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87952" y="367588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87952" y="3675888"/>
            <a:ext cx="64008" cy="21031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87952" y="383133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92624" y="379476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Integrado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92624" y="427024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Manuais completos do professor e do aluno acessíveis dentro do sistema, com exportação em PDF.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19872" y="367588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19872" y="3675888"/>
            <a:ext cx="64008" cy="2103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9872" y="383133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24544" y="379476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Pedagógico Completo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924544" y="427024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indicadores + DRE + BP + Fluxo de Caixa gerados automaticamente — aprendizado com dados reais.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em Sala de Aula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ativa para Ciências Contábeis — aprendizado por competição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566928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98448"/>
            <a:ext cx="64008" cy="2148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89888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Disciplinas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" y="1911096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86537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Contabilidade Gerencial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" y="221284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216712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Demonstrações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" y="2514600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24688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e Formação de Preço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" y="281635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277063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 Empresariais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" y="3118104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307238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Estratégica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99632" y="1298448"/>
            <a:ext cx="566928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1298448"/>
            <a:ext cx="64008" cy="2148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1389888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Dinâmica da Turma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91656" y="191109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2824" y="186537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 8 grupos de 3 a 5 alunos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91656" y="221284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92824" y="216712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rodada = 1 período contábil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91656" y="251460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92824" y="24688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sigilosas por grupo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91656" y="28163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2824" y="277063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compartilhados ao final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91656" y="311810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92824" y="307238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Competição saudável e motivadora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" y="3675888"/>
            <a:ext cx="566928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3675888"/>
            <a:ext cx="64008" cy="2148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767328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Avaliação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48056" y="4288536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" y="42428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financeiro pode compor a nota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48056" y="4590288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" y="454456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em PDF para portfólio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8056" y="489204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" y="48463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de decisões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48056" y="519379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" y="51480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 do professor por grupo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48056" y="5495544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" y="544982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para análise estatística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99632" y="3675888"/>
            <a:ext cx="566928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99632" y="3675888"/>
            <a:ext cx="64008" cy="214884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2512" y="3767328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Duração e Flexibilidade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391656" y="4288536"/>
            <a:ext cx="128016" cy="128016"/>
          </a:xfrm>
          <a:prstGeom prst="ellipse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92824" y="42428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 completo: 3 a 8 rodadas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91656" y="4590288"/>
            <a:ext cx="128016" cy="128016"/>
          </a:xfrm>
          <a:prstGeom prst="ellipse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92824" y="454456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rodada: 30 a 60 minutos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391656" y="4892040"/>
            <a:ext cx="128016" cy="128016"/>
          </a:xfrm>
          <a:prstGeom prst="ellipse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92824" y="48463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em EAD/híbrido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391656" y="5193792"/>
            <a:ext cx="128016" cy="128016"/>
          </a:xfrm>
          <a:prstGeom prst="ellipse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92824" y="51480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controla o ritmo total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391656" y="5495544"/>
            <a:ext cx="128016" cy="128016"/>
          </a:xfrm>
          <a:prstGeom prst="ellipse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92824" y="544982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turmas simultâneas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669280" cy="5669280"/>
          </a:xfrm>
          <a:prstGeom prst="ellipse">
            <a:avLst/>
          </a:prstGeom>
          <a:solidFill>
            <a:srgbClr val="4D8EF0">
              <a:alpha val="13000"/>
            </a:srgbClr>
          </a:solidFill>
          <a:ln w="12700">
            <a:solidFill>
              <a:srgbClr val="4D8EF0">
                <a:alpha val="1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114800"/>
            <a:ext cx="4754880" cy="4754880"/>
          </a:xfrm>
          <a:prstGeom prst="ellipse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2286000"/>
            <a:ext cx="2926080" cy="2926080"/>
          </a:xfrm>
          <a:prstGeom prst="ellipse">
            <a:avLst/>
          </a:prstGeom>
          <a:solidFill>
            <a:srgbClr val="C9A520">
              <a:alpha val="6000"/>
            </a:srgbClr>
          </a:solidFill>
          <a:ln w="12700">
            <a:solidFill>
              <a:srgbClr val="C9A520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6032"/>
            <a:ext cx="251460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1752"/>
            <a:ext cx="2377440" cy="7040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645920"/>
            <a:ext cx="103601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</a:t>
            </a:r>
            <a:endParaRPr lang="en-US" sz="62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Accounting Simulator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572000" y="3685032"/>
            <a:ext cx="3044952" cy="457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0" y="3785616"/>
            <a:ext cx="8531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o ensino de Ciências Contábeis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através da competição e da prática.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83280" y="4919472"/>
            <a:ext cx="5422392" cy="530352"/>
          </a:xfrm>
          <a:prstGeom prst="rect">
            <a:avLst/>
          </a:prstGeom>
          <a:solidFill>
            <a:srgbClr val="4D8EF0">
              <a:alpha val="17000"/>
            </a:srgbClr>
          </a:solidFill>
          <a:ln w="12700">
            <a:solidFill>
              <a:srgbClr val="4D8EF0">
                <a:alpha val="3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4919472"/>
            <a:ext cx="5422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 |  UniFECAF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30B16"/>
          </a:solidFill>
          <a:ln w="12700">
            <a:solidFill>
              <a:srgbClr val="030B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6263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idealizado e desenvolvido por Prof. Ednilson Angelo  |  UniFECAF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Arena Contábil — Business Accounting Simulator</dc:title>
  <dc:subject>PptxGenJS Presentation</dc:subject>
  <dc:creator>Prof. Ednilson Angelo</dc:creator>
  <cp:lastModifiedBy>Prof. Ednilson Angelo</cp:lastModifiedBy>
  <cp:revision>1</cp:revision>
  <dcterms:created xsi:type="dcterms:W3CDTF">2026-05-28T03:40:07Z</dcterms:created>
  <dcterms:modified xsi:type="dcterms:W3CDTF">2026-05-28T03:40:07Z</dcterms:modified>
</cp:coreProperties>
</file>